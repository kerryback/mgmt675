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59" r:id="rId7"/>
    <p:sldId id="263" r:id="rId8"/>
    <p:sldId id="264" r:id="rId9"/>
    <p:sldId id="265" r:id="rId10"/>
    <p:sldId id="260" r:id="rId11"/>
    <p:sldId id="266" r:id="rId12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41" autoAdjust="0"/>
    <p:restoredTop sz="94660"/>
  </p:normalViewPr>
  <p:slideViewPr>
    <p:cSldViewPr snapToGrid="0" snapToObjects="1">
      <p:cViewPr varScale="1">
        <p:scale>
          <a:sx n="121" d="100"/>
          <a:sy n="121" d="100"/>
        </p:scale>
        <p:origin x="120" y="5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data-portal.rice-business.org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14400" y="914400"/>
            <a:ext cx="249299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4B4B4"/>
                </a:solidFill>
                <a:latin typeface="Arial"/>
              </a:defRPr>
            </a:pPr>
            <a:r>
              <a:rPr sz="3600" dirty="0">
                <a:solidFill>
                  <a:srgbClr val="111827"/>
                </a:solidFill>
              </a:rPr>
              <a:t>MGMT 675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0620" y="3200400"/>
            <a:ext cx="12801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200" b="1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Generative AI for Finance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8653" y="59436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D2691E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Course Introduction</a:t>
            </a:r>
          </a:p>
        </p:txBody>
      </p:sp>
      <p:pic>
        <p:nvPicPr>
          <p:cNvPr id="8" name="Picture 7" descr="RiceBusiness-transparent-logo-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8375" y="914400"/>
            <a:ext cx="4207625" cy="94374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-1" y="0"/>
            <a:ext cx="130629" cy="81736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BF4AF5-AE31-D16F-C51F-CB4EC4B5B32B}"/>
              </a:ext>
            </a:extLst>
          </p:cNvPr>
          <p:cNvSpPr/>
          <p:nvPr/>
        </p:nvSpPr>
        <p:spPr>
          <a:xfrm rot="5400000" flipH="1">
            <a:off x="2612920" y="4946217"/>
            <a:ext cx="77593" cy="346219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73152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374151"/>
                </a:solidFill>
              </a:rPr>
              <a:t>From Makers to Checkers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45633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2691E"/>
                </a:solidFill>
                <a:latin typeface="Arial"/>
              </a:defRPr>
            </a:pPr>
            <a:r>
              <a:rPr sz="2400" dirty="0">
                <a:solidFill>
                  <a:srgbClr val="111827"/>
                </a:solidFill>
              </a:rPr>
              <a:t>Derek Waldron, JP Morgan Chief Analytics Officer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0"/>
            <a:ext cx="11887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What we're working towards is that every employee will have their own personalized AI assistant; every process is powered by AI agents, and every client experience has an AI concierge.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Arial"/>
              </a:defRPr>
            </a:pPr>
            <a:endParaRPr dirty="0"/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You'll still have people at the top who are managing and have relationships with clients, but many, many of the processes underneath are now being done by AI systems.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Arial"/>
              </a:defRPr>
            </a:pPr>
            <a:endParaRPr dirty="0"/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Workers would shift from being creators of reports or software updates, or 'makers' ... to 'checkers' or managers of AI agents doing that work.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73152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374151"/>
                </a:solidFill>
              </a:rPr>
              <a:t>The New Skills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46147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2691E"/>
                </a:solidFill>
                <a:latin typeface="Arial"/>
              </a:defRPr>
            </a:pPr>
            <a:r>
              <a:rPr sz="2800" dirty="0">
                <a:solidFill>
                  <a:srgbClr val="111827"/>
                </a:solidFill>
              </a:rPr>
              <a:t>Brookings Institute,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0"/>
            <a:ext cx="11887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400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374151"/>
                </a:solidFill>
              </a:rPr>
              <a:t>As AI models begin to handle underwriting, compliance, and asset allocation, the traditional architecture of financial work is undergoing a fundamental shift.</a:t>
            </a:r>
          </a:p>
          <a:p>
            <a:pPr>
              <a:spcAft>
                <a:spcPts val="1600"/>
              </a:spcAft>
              <a:defRPr sz="2400">
                <a:solidFill>
                  <a:srgbClr val="FFFFFF"/>
                </a:solidFill>
                <a:latin typeface="Arial"/>
              </a:defRPr>
            </a:pPr>
            <a:endParaRPr/>
          </a:p>
          <a:p>
            <a:pPr>
              <a:spcAft>
                <a:spcPts val="1600"/>
              </a:spcAft>
              <a:defRPr sz="2400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374151"/>
                </a:solidFill>
              </a:rPr>
              <a:t>As job descriptions evolve, so does the definition of financial talent. Excel is no longer a differentiator. Python is fast becoming the new Excel.</a:t>
            </a:r>
          </a:p>
          <a:p>
            <a:pPr>
              <a:spcAft>
                <a:spcPts val="1600"/>
              </a:spcAft>
              <a:defRPr sz="2400">
                <a:solidFill>
                  <a:srgbClr val="FFFFFF"/>
                </a:solidFill>
                <a:latin typeface="Arial"/>
              </a:defRPr>
            </a:pPr>
            <a:endParaRPr/>
          </a:p>
          <a:p>
            <a:pPr>
              <a:spcAft>
                <a:spcPts val="1600"/>
              </a:spcAft>
              <a:defRPr sz="2400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374151"/>
                </a:solidFill>
              </a:rPr>
              <a:t>But technical skills alone will not cut it. The most in demand profiles today are those that speak both AI and finance.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/>
          <p:nvPr/>
        </p:nvSpPr>
        <p:spPr>
          <a:xfrm>
            <a:off x="274320" y="1463040"/>
            <a:ext cx="4389120" cy="50292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846320" y="1463040"/>
            <a:ext cx="4389120" cy="50292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418320" y="1463040"/>
            <a:ext cx="4389120" cy="50292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374151"/>
                </a:solidFill>
              </a:rPr>
              <a:t>Course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2691E"/>
                </a:solidFill>
                <a:latin typeface="Arial"/>
              </a:defRPr>
            </a:pPr>
            <a:r>
              <a:rPr>
                <a:solidFill>
                  <a:srgbClr val="374151"/>
                </a:solidFill>
              </a:rPr>
              <a:t>Using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• Financial analysis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• Generate documents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• Install/use AI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64592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2691E"/>
                </a:solidFill>
                <a:latin typeface="Arial"/>
              </a:defRPr>
            </a:pPr>
            <a:r>
              <a:rPr>
                <a:solidFill>
                  <a:srgbClr val="374151"/>
                </a:solidFill>
              </a:rPr>
              <a:t>Building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377440"/>
            <a:ext cx="4572000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• System prompts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• </a:t>
            </a:r>
            <a:r>
              <a:rPr lang="en-US" dirty="0">
                <a:solidFill>
                  <a:srgbClr val="374151"/>
                </a:solidFill>
              </a:rPr>
              <a:t>API calls</a:t>
            </a:r>
            <a:endParaRPr dirty="0"/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• </a:t>
            </a:r>
            <a:r>
              <a:rPr lang="en-US" dirty="0">
                <a:solidFill>
                  <a:srgbClr val="374151"/>
                </a:solidFill>
              </a:rPr>
              <a:t>Agent logic</a:t>
            </a:r>
            <a:endParaRPr dirty="0"/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• </a:t>
            </a:r>
            <a:r>
              <a:rPr lang="en-US" dirty="0">
                <a:solidFill>
                  <a:srgbClr val="374151"/>
                </a:solidFill>
              </a:rPr>
              <a:t>Claude skills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601200" y="164592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2691E"/>
                </a:solidFill>
                <a:latin typeface="Arial"/>
              </a:defRPr>
            </a:pPr>
            <a:r>
              <a:rPr>
                <a:solidFill>
                  <a:srgbClr val="374151"/>
                </a:solidFill>
              </a:rPr>
              <a:t>Financial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237744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374151"/>
                </a:solidFill>
              </a:rPr>
              <a:t>• Cost of Equity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374151"/>
                </a:solidFill>
              </a:rPr>
              <a:t>• Mean-variance analysis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374151"/>
                </a:solidFill>
              </a:rPr>
              <a:t>• Pro-forma statements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374151"/>
                </a:solidFill>
              </a:rPr>
              <a:t>• Discounted cash flow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374151"/>
                </a:solidFill>
              </a:rPr>
              <a:t>• Simulation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29153" y="22860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D2691E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Chatbots</a:t>
            </a:r>
          </a:p>
          <a:p>
            <a:pPr algn="l">
              <a:defRPr sz="7200" b="1">
                <a:solidFill>
                  <a:srgbClr val="D2691E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and Agents</a:t>
            </a:r>
          </a:p>
        </p:txBody>
      </p:sp>
      <p:pic>
        <p:nvPicPr>
          <p:cNvPr id="4" name="Picture 3" descr="c3po_r2d2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5428" y="650033"/>
            <a:ext cx="5615709" cy="73152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73152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374151"/>
                </a:solidFill>
              </a:rPr>
              <a:t>What is an AI Agent?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374151"/>
                </a:solidFill>
              </a:rPr>
              <a:t>An AI agent is a chatbot equipped with tools to perform actions beyond conversation.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6400800" cy="2195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• Code execution (Python, etc.)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• File </a:t>
            </a:r>
            <a:r>
              <a:rPr lang="en-US" dirty="0">
                <a:solidFill>
                  <a:srgbClr val="374151"/>
                </a:solidFill>
              </a:rPr>
              <a:t>generation</a:t>
            </a:r>
            <a:r>
              <a:rPr dirty="0">
                <a:solidFill>
                  <a:srgbClr val="374151"/>
                </a:solidFill>
              </a:rPr>
              <a:t> (Excel, Word, PDF)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• Database access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• Web search and API calls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• System commands</a:t>
            </a:r>
          </a:p>
        </p:txBody>
      </p:sp>
      <p:pic>
        <p:nvPicPr>
          <p:cNvPr id="6" name="Picture 5" descr="agent_serv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5992" y="1166799"/>
            <a:ext cx="7287208" cy="544234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73152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374151"/>
                </a:solidFill>
              </a:rPr>
              <a:t>Example Database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637" y="1920240"/>
            <a:ext cx="1280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u="sng" dirty="0">
                <a:solidFill>
                  <a:srgbClr val="111827"/>
                </a:solidFill>
                <a:latin typeface="Arial"/>
                <a:hlinkClick r:id="rId2"/>
              </a:rPr>
              <a:t>data-portal.rice-business.org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8310465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• Prompt + System Prompt → LLM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• LLM returns SQL code or a question for the user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• Agent sends SQL code to database or question to the user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• Eventually, SQL code goes to database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• Database returns data or error message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• Error message goes to LLM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374151"/>
                </a:solidFill>
              </a:rPr>
              <a:t>• Eventually data goes to user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73152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374151"/>
                </a:solidFill>
              </a:rPr>
              <a:t>How do We Build 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2801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800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374151"/>
                </a:solidFill>
              </a:rPr>
              <a:t>• System prompt provides info to LLM and tells it what we want</a:t>
            </a:r>
          </a:p>
          <a:p>
            <a:pPr>
              <a:spcBef>
                <a:spcPts val="2000"/>
              </a:spcBef>
              <a:defRPr sz="2800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374151"/>
                </a:solidFill>
              </a:rPr>
              <a:t>• Agent logic is hard-coded as "if ... then ..." (not AI)</a:t>
            </a:r>
          </a:p>
        </p:txBody>
      </p:sp>
      <p:pic>
        <p:nvPicPr>
          <p:cNvPr id="5" name="Picture 4" descr="agent_data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6400800" cy="4780344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6400800" cy="478034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22860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374151"/>
                </a:solidFill>
              </a:rPr>
              <a:t>Applied Finance Spreadsheets →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D2691E"/>
                </a:solidFill>
                <a:latin typeface="Arial"/>
              </a:defRPr>
            </a:pPr>
            <a:r>
              <a:rPr>
                <a:solidFill>
                  <a:srgbClr val="374151"/>
                </a:solidFill>
              </a:rPr>
              <a:t>What can we build?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731520"/>
            <a:ext cx="11226150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rPr lang="en-US" dirty="0">
                <a:solidFill>
                  <a:srgbClr val="374151"/>
                </a:solidFill>
              </a:rPr>
              <a:t>Where all Computing is Probably Headed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5029200" y="3657600"/>
            <a:ext cx="3657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2691E"/>
                </a:solidFill>
                <a:latin typeface="Arial"/>
              </a:defRPr>
            </a:pPr>
            <a:r>
              <a:rPr>
                <a:solidFill>
                  <a:srgbClr val="374151"/>
                </a:solidFill>
              </a:rPr>
              <a:t>Graphical UI</a:t>
            </a:r>
          </a:p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374151"/>
                </a:solidFill>
              </a:rPr>
              <a:t>Point &amp; click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3657600"/>
            <a:ext cx="3657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2691E"/>
                </a:solidFill>
                <a:latin typeface="Arial"/>
              </a:defRPr>
            </a:pPr>
            <a:r>
              <a:rPr>
                <a:solidFill>
                  <a:srgbClr val="374151"/>
                </a:solidFill>
              </a:rPr>
              <a:t>Chat Interface</a:t>
            </a:r>
          </a:p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374151"/>
                </a:solidFill>
              </a:rPr>
              <a:t>AI agent does everything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8580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2691E"/>
                </a:solidFill>
                <a:latin typeface="Arial"/>
              </a:defRPr>
            </a:pPr>
            <a:r>
              <a:rPr>
                <a:solidFill>
                  <a:srgbClr val="374151"/>
                </a:solidFill>
              </a:rPr>
              <a:t>Agents will change the way people use computers.</a:t>
            </a:r>
          </a:p>
        </p:txBody>
      </p:sp>
      <p:pic>
        <p:nvPicPr>
          <p:cNvPr id="9" name="Picture 8" descr="page4_ui_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645920"/>
            <a:ext cx="10972800" cy="61722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73152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374151"/>
                </a:solidFill>
              </a:rPr>
              <a:t>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2801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400"/>
              </a:spcBef>
              <a:defRPr sz="3200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374151"/>
                </a:solidFill>
              </a:rPr>
              <a:t>1. Using AI + Python for financial analysis</a:t>
            </a:r>
          </a:p>
          <a:p>
            <a:pPr>
              <a:spcBef>
                <a:spcPts val="2400"/>
              </a:spcBef>
              <a:defRPr sz="3200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374151"/>
                </a:solidFill>
              </a:rPr>
              <a:t>2. Installing and using AI and related tools</a:t>
            </a:r>
          </a:p>
          <a:p>
            <a:pPr>
              <a:spcBef>
                <a:spcPts val="2400"/>
              </a:spcBef>
              <a:defRPr sz="3200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374151"/>
                </a:solidFill>
              </a:rPr>
              <a:t>3. Building chatbots and agents for finance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465</Words>
  <Application>Microsoft Office PowerPoint</Application>
  <PresentationFormat>Custom</PresentationFormat>
  <Paragraphs>66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Kerry Back</cp:lastModifiedBy>
  <cp:revision>9</cp:revision>
  <dcterms:created xsi:type="dcterms:W3CDTF">2013-01-27T09:14:16Z</dcterms:created>
  <dcterms:modified xsi:type="dcterms:W3CDTF">2026-02-01T16:47:46Z</dcterms:modified>
  <cp:category/>
</cp:coreProperties>
</file>