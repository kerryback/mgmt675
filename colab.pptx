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99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83" r:id="rId20"/>
    <p:sldId id="285" r:id="rId21"/>
    <p:sldId id="296" r:id="rId22"/>
    <p:sldId id="297" r:id="rId23"/>
    <p:sldId id="298" r:id="rId24"/>
    <p:sldId id="288" r:id="rId25"/>
    <p:sldId id="295" r:id="rId26"/>
    <p:sldId id="290" r:id="rId27"/>
    <p:sldId id="291" r:id="rId28"/>
    <p:sldId id="292" r:id="rId29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3" d="100"/>
          <a:sy n="123" d="100"/>
        </p:scale>
        <p:origin x="125" y="47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44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8229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249299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4B4B4"/>
                </a:solidFill>
                <a:latin typeface="Arial"/>
              </a:defRPr>
            </a:pPr>
            <a:r>
              <a:rPr sz="3600" dirty="0">
                <a:solidFill>
                  <a:srgbClr val="111827"/>
                </a:solidFill>
              </a:rPr>
              <a:t>MGMT 675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44257"/>
            <a:ext cx="12801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200" b="1">
                <a:solidFill>
                  <a:srgbClr val="FFFFFF"/>
                </a:solidFill>
                <a:latin typeface="Arial"/>
              </a:defRPr>
            </a:pPr>
            <a:r>
              <a:rPr lang="en-US" dirty="0">
                <a:solidFill>
                  <a:srgbClr val="374151"/>
                </a:solidFill>
              </a:rPr>
              <a:t>Generative AI for Finance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804672" y="5943600"/>
            <a:ext cx="269016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D2691E"/>
                </a:solidFill>
                <a:latin typeface="Arial"/>
              </a:defRPr>
            </a:pPr>
            <a:r>
              <a:rPr lang="en-US" dirty="0">
                <a:solidFill>
                  <a:srgbClr val="374151"/>
                </a:solidFill>
              </a:rPr>
              <a:t>Google </a:t>
            </a:r>
            <a:r>
              <a:rPr lang="en-US" dirty="0" err="1">
                <a:solidFill>
                  <a:srgbClr val="374151"/>
                </a:solidFill>
              </a:rPr>
              <a:t>Colab</a:t>
            </a: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914400" y="6812280"/>
            <a:ext cx="249299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4076799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236376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280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374151"/>
                </a:solidFill>
              </a:rPr>
              <a:t>What is Google Colab?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3453" y="2173410"/>
            <a:ext cx="1280160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• A free tool from Google for running code in your browser</a:t>
            </a:r>
            <a:endParaRPr lang="en-US" dirty="0"/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endParaRPr dirty="0"/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• No software installation required</a:t>
            </a:r>
            <a:endParaRPr lang="en-US" dirty="0"/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endParaRPr dirty="0"/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• Works on any computer with internet access</a:t>
            </a:r>
            <a:endParaRPr lang="en-US" dirty="0"/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endParaRPr dirty="0"/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• All your work saves automatically to Google Drive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890" y="2245566"/>
            <a:ext cx="45719" cy="3059321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280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374151"/>
                </a:solidFill>
              </a:rPr>
              <a:t>What You Need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374151"/>
                </a:solidFill>
              </a:rPr>
              <a:t>Just two things:</a:t>
            </a:r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endParaRPr/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374151"/>
                </a:solidFill>
              </a:rPr>
              <a:t>1. A Google account (Gmail works)</a:t>
            </a:r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374151"/>
                </a:solidFill>
              </a:rPr>
              <a:t>2. A web browser (Chrome recommended)</a:t>
            </a:r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endParaRPr/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374151"/>
                </a:solidFill>
              </a:rPr>
              <a:t>That's it!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280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374151"/>
                </a:solidFill>
              </a:rPr>
              <a:t>Accessing Colab: From Google Drive</a:t>
            </a:r>
          </a:p>
        </p:txBody>
      </p:sp>
      <p:pic>
        <p:nvPicPr>
          <p:cNvPr id="4" name="Picture 3" descr="colab-a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828800"/>
            <a:ext cx="10972800" cy="44724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8580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B4B4B4"/>
                </a:solidFill>
                <a:latin typeface="Arial"/>
              </a:defRPr>
            </a:pPr>
            <a:r>
              <a:rPr>
                <a:solidFill>
                  <a:srgbClr val="374151"/>
                </a:solidFill>
              </a:rPr>
              <a:t>Click New → More → Google Colaboratory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280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374151"/>
                </a:solidFill>
              </a:rPr>
              <a:t>Accessing Colab: Direct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Go directly to:</a:t>
            </a:r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endParaRPr dirty="0"/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  <a:hlinkClick r:id="rId2"/>
              </a:rPr>
              <a:t>colab.research.google.com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280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374151"/>
                </a:solidFill>
              </a:rPr>
              <a:t>The Open Notebook Dialog</a:t>
            </a:r>
          </a:p>
        </p:txBody>
      </p:sp>
      <p:pic>
        <p:nvPicPr>
          <p:cNvPr id="4" name="Picture 3" descr="colab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828800"/>
            <a:ext cx="10972800" cy="668528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280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374151"/>
                </a:solidFill>
              </a:rPr>
              <a:t>Opening Notebooks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2801600" cy="2821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• Examples: Google's tutorial notebooks</a:t>
            </a:r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• Recent: Your recently opened notebooks</a:t>
            </a:r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• Google Drive: Notebooks saved in your Drive</a:t>
            </a:r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• GitHub: Open notebooks from GitHub repos</a:t>
            </a:r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• Upload: Upload a .</a:t>
            </a:r>
            <a:r>
              <a:rPr dirty="0" err="1">
                <a:solidFill>
                  <a:srgbClr val="374151"/>
                </a:solidFill>
              </a:rPr>
              <a:t>ipynb</a:t>
            </a:r>
            <a:r>
              <a:rPr dirty="0">
                <a:solidFill>
                  <a:srgbClr val="374151"/>
                </a:solidFill>
              </a:rPr>
              <a:t> file</a:t>
            </a:r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 flipH="1">
            <a:off x="702906" y="2090057"/>
            <a:ext cx="74334" cy="220202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131BFF-E8BC-B2BF-821D-30ED819C5D14}"/>
              </a:ext>
            </a:extLst>
          </p:cNvPr>
          <p:cNvSpPr txBox="1"/>
          <p:nvPr/>
        </p:nvSpPr>
        <p:spPr>
          <a:xfrm>
            <a:off x="653142" y="5015845"/>
            <a:ext cx="718457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FFFFFF"/>
                </a:solidFill>
                <a:latin typeface="Arial"/>
              </a:defRPr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Click + New notebook to start a fresh notebook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927992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The </a:t>
            </a:r>
            <a:r>
              <a:rPr dirty="0" err="1">
                <a:solidFill>
                  <a:srgbClr val="374151"/>
                </a:solidFill>
              </a:rPr>
              <a:t>Colab</a:t>
            </a:r>
            <a:r>
              <a:rPr dirty="0">
                <a:solidFill>
                  <a:srgbClr val="374151"/>
                </a:solidFill>
              </a:rPr>
              <a:t> Interface</a:t>
            </a:r>
            <a:r>
              <a:rPr lang="en-US" dirty="0">
                <a:solidFill>
                  <a:srgbClr val="374151"/>
                </a:solidFill>
              </a:rPr>
              <a:t>: Notebook + Gemini</a:t>
            </a:r>
            <a:endParaRPr dirty="0">
              <a:solidFill>
                <a:srgbClr val="374151"/>
              </a:solidFill>
            </a:endParaRPr>
          </a:p>
        </p:txBody>
      </p:sp>
      <p:pic>
        <p:nvPicPr>
          <p:cNvPr id="4" name="Picture 3" descr="cola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828800"/>
            <a:ext cx="10400522" cy="622488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3790" y="894278"/>
            <a:ext cx="13042821" cy="1417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50" b="1">
                <a:solidFill>
                  <a:srgbClr val="111827"/>
                </a:solidFill>
                <a:latin typeface="Inter Bold"/>
              </a:rPr>
              <a:t>How Notebooks Work: The Runtime Connection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2907149"/>
            <a:ext cx="5564862" cy="254686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3611" y="3543033"/>
            <a:ext cx="357797" cy="35779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54837" y="4748584"/>
            <a:ext cx="10447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dirty="0">
                <a:solidFill>
                  <a:srgbClr val="374151"/>
                </a:solidFill>
                <a:latin typeface="Inter Bold"/>
              </a:rPr>
              <a:t>Display Results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3740" y="3543704"/>
            <a:ext cx="357797" cy="3577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738145" y="4748584"/>
            <a:ext cx="104476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dirty="0">
                <a:solidFill>
                  <a:srgbClr val="374151"/>
                </a:solidFill>
                <a:latin typeface="Inter Bold"/>
              </a:rPr>
              <a:t>Return Output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4205" y="3543704"/>
            <a:ext cx="357797" cy="3577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416230" y="4849214"/>
            <a:ext cx="106952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dirty="0">
                <a:solidFill>
                  <a:srgbClr val="374151"/>
                </a:solidFill>
                <a:latin typeface="Inter Bold"/>
              </a:rPr>
              <a:t>Execute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7513" y="3543704"/>
            <a:ext cx="357797" cy="357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57847" y="4849214"/>
            <a:ext cx="130997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374151"/>
                </a:solidFill>
                <a:latin typeface="Inter Bold"/>
              </a:rPr>
              <a:t>Send</a:t>
            </a:r>
            <a:r>
              <a:rPr sz="1350" b="1" dirty="0">
                <a:solidFill>
                  <a:srgbClr val="374151"/>
                </a:solidFill>
                <a:latin typeface="Inter Bold"/>
              </a:rPr>
              <a:t> </a:t>
            </a:r>
            <a:r>
              <a:rPr b="1" dirty="0">
                <a:solidFill>
                  <a:srgbClr val="374151"/>
                </a:solidFill>
                <a:latin typeface="Inter Bold"/>
              </a:rPr>
              <a:t>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19674" y="2856071"/>
            <a:ext cx="692443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dirty="0">
                <a:solidFill>
                  <a:srgbClr val="374151"/>
                </a:solidFill>
                <a:latin typeface="Inter"/>
              </a:rPr>
              <a:t>Think of a notebook </a:t>
            </a:r>
            <a:r>
              <a:rPr lang="en-US" sz="2000" dirty="0">
                <a:solidFill>
                  <a:srgbClr val="374151"/>
                </a:solidFill>
                <a:latin typeface="Inter"/>
              </a:rPr>
              <a:t>(called a </a:t>
            </a:r>
            <a:r>
              <a:rPr lang="en-US" sz="2000" dirty="0" err="1">
                <a:solidFill>
                  <a:srgbClr val="374151"/>
                </a:solidFill>
                <a:latin typeface="Inter"/>
              </a:rPr>
              <a:t>Jupyter</a:t>
            </a:r>
            <a:r>
              <a:rPr lang="en-US" sz="2000" dirty="0">
                <a:solidFill>
                  <a:srgbClr val="374151"/>
                </a:solidFill>
                <a:latin typeface="Inter"/>
              </a:rPr>
              <a:t> notebook or </a:t>
            </a:r>
            <a:r>
              <a:rPr lang="en-US" sz="2000" dirty="0" err="1">
                <a:solidFill>
                  <a:srgbClr val="374151"/>
                </a:solidFill>
                <a:latin typeface="Inter"/>
              </a:rPr>
              <a:t>Colab</a:t>
            </a:r>
            <a:r>
              <a:rPr lang="en-US" sz="2000" dirty="0">
                <a:solidFill>
                  <a:srgbClr val="374151"/>
                </a:solidFill>
                <a:latin typeface="Inter"/>
              </a:rPr>
              <a:t> notebook) </a:t>
            </a:r>
            <a:r>
              <a:rPr sz="2000" dirty="0">
                <a:solidFill>
                  <a:srgbClr val="374151"/>
                </a:solidFill>
                <a:latin typeface="Inter"/>
              </a:rPr>
              <a:t>as a conversation between you and a computer. Here's the workflow: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12173" y="4181609"/>
            <a:ext cx="692443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+mj-lt"/>
              <a:buAutoNum type="arabicPeriod"/>
            </a:pPr>
            <a:r>
              <a:rPr sz="2000" dirty="0">
                <a:solidFill>
                  <a:srgbClr val="374151"/>
                </a:solidFill>
                <a:latin typeface="Inter"/>
              </a:rPr>
              <a:t>Your notebook transmits code to a runtime environment (called a kernel)</a:t>
            </a:r>
          </a:p>
          <a:p>
            <a:pPr marL="457200" indent="-457200" algn="l">
              <a:buFont typeface="+mj-lt"/>
              <a:buAutoNum type="arabicPeriod"/>
            </a:pPr>
            <a:r>
              <a:rPr sz="2000" dirty="0">
                <a:solidFill>
                  <a:srgbClr val="374151"/>
                </a:solidFill>
                <a:latin typeface="Inter"/>
              </a:rPr>
              <a:t>The runtime processes and executes your code</a:t>
            </a:r>
          </a:p>
          <a:p>
            <a:pPr marL="457200" indent="-457200" algn="l">
              <a:buFont typeface="+mj-lt"/>
              <a:buAutoNum type="arabicPeriod"/>
            </a:pPr>
            <a:r>
              <a:rPr sz="2000" dirty="0">
                <a:solidFill>
                  <a:srgbClr val="374151"/>
                </a:solidFill>
                <a:latin typeface="Inter"/>
              </a:rPr>
              <a:t>Results flow back to the notebook interface</a:t>
            </a:r>
          </a:p>
          <a:p>
            <a:pPr marL="457200" indent="-457200" algn="l">
              <a:buFont typeface="+mj-lt"/>
              <a:buAutoNum type="arabicPeriod"/>
            </a:pPr>
            <a:r>
              <a:rPr sz="2000" dirty="0">
                <a:solidFill>
                  <a:srgbClr val="374151"/>
                </a:solidFill>
                <a:latin typeface="Inter"/>
              </a:rPr>
              <a:t>The notebook renders outputs, visualizations, and any error messages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87086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6300123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rPr lang="en-US" dirty="0">
                <a:solidFill>
                  <a:srgbClr val="374151"/>
                </a:solidFill>
              </a:rPr>
              <a:t>Navigating a Notebook</a:t>
            </a:r>
            <a:endParaRPr dirty="0">
              <a:solidFill>
                <a:srgbClr val="37415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24000" y="2440888"/>
            <a:ext cx="12801600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• </a:t>
            </a:r>
            <a:r>
              <a:rPr lang="en-US" dirty="0">
                <a:solidFill>
                  <a:srgbClr val="374151"/>
                </a:solidFill>
              </a:rPr>
              <a:t> </a:t>
            </a:r>
            <a:r>
              <a:rPr dirty="0">
                <a:solidFill>
                  <a:srgbClr val="374151"/>
                </a:solidFill>
              </a:rPr>
              <a:t>+ Code: Add a new code cell</a:t>
            </a:r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• </a:t>
            </a:r>
            <a:r>
              <a:rPr lang="en-US" dirty="0">
                <a:solidFill>
                  <a:srgbClr val="374151"/>
                </a:solidFill>
              </a:rPr>
              <a:t> </a:t>
            </a:r>
            <a:r>
              <a:rPr dirty="0">
                <a:solidFill>
                  <a:srgbClr val="374151"/>
                </a:solidFill>
              </a:rPr>
              <a:t>+ Text: Add a text/markdown cell</a:t>
            </a:r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• </a:t>
            </a:r>
            <a:r>
              <a:rPr lang="en-US" dirty="0">
                <a:solidFill>
                  <a:srgbClr val="374151"/>
                </a:solidFill>
              </a:rPr>
              <a:t> </a:t>
            </a:r>
            <a:r>
              <a:rPr dirty="0">
                <a:solidFill>
                  <a:srgbClr val="374151"/>
                </a:solidFill>
              </a:rPr>
              <a:t>Connect: Connect to Google's servers</a:t>
            </a:r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• </a:t>
            </a:r>
            <a:r>
              <a:rPr lang="en-US" dirty="0">
                <a:solidFill>
                  <a:srgbClr val="374151"/>
                </a:solidFill>
              </a:rPr>
              <a:t> </a:t>
            </a:r>
            <a:r>
              <a:rPr dirty="0">
                <a:solidFill>
                  <a:srgbClr val="374151"/>
                </a:solidFill>
              </a:rPr>
              <a:t>Files (folder icon): View and upload files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7158" y="2560320"/>
            <a:ext cx="68736" cy="17006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280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374151"/>
                </a:solidFill>
              </a:rPr>
              <a:t>What is a Cell?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9596" y="2235615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A cell is a box where you write code or text.</a:t>
            </a:r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endParaRPr dirty="0"/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Two types:</a:t>
            </a:r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• Code cells: Run Python code</a:t>
            </a:r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• Text cells: Write notes and explanations</a:t>
            </a:r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endParaRPr dirty="0"/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You can have as many cells as you need.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235615"/>
            <a:ext cx="73152" cy="32196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280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374151"/>
                </a:solidFill>
              </a:rPr>
              <a:t>Your First Code: Simple Math</a:t>
            </a:r>
          </a:p>
        </p:txBody>
      </p:sp>
      <p:pic>
        <p:nvPicPr>
          <p:cNvPr id="4" name="Picture 3" descr="code-exec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522998"/>
            <a:ext cx="10972800" cy="19666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00226" y="6858000"/>
            <a:ext cx="542994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B4B4B4"/>
                </a:solidFill>
                <a:latin typeface="Arial"/>
              </a:defRPr>
            </a:pPr>
            <a:r>
              <a:rPr sz="2000" dirty="0">
                <a:solidFill>
                  <a:srgbClr val="374151"/>
                </a:solidFill>
              </a:rPr>
              <a:t>Type 5*3 and press Shift + Enter → Result: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280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374151"/>
                </a:solidFill>
              </a:rPr>
              <a:t>Your First Code: Hello World</a:t>
            </a:r>
          </a:p>
        </p:txBody>
      </p:sp>
      <p:pic>
        <p:nvPicPr>
          <p:cNvPr id="4" name="Picture 3" descr="code-execution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799184"/>
            <a:ext cx="10972800" cy="14042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8580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B4B4B4"/>
                </a:solidFill>
                <a:latin typeface="Arial"/>
              </a:defRPr>
            </a:pPr>
            <a:r>
              <a:rPr>
                <a:solidFill>
                  <a:srgbClr val="374151"/>
                </a:solidFill>
              </a:rPr>
              <a:t>Type print('hello world') and press Shift + Enter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280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374151"/>
                </a:solidFill>
              </a:rPr>
              <a:t>Running Code: Three 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577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1. Click the play button (▶) on the left of the cell</a:t>
            </a:r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endParaRPr dirty="0"/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2. Press Shift + Enter (runs and moves to next cell)</a:t>
            </a:r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endParaRPr dirty="0"/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3. Press Ctrl + Enter (runs and stays in cell)</a:t>
            </a:r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endParaRPr dirty="0"/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Tip: Shift + Enter is the most common method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5551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280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374151"/>
                </a:solidFill>
              </a:rPr>
              <a:t>Understanding the Play Button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6996" y="2086325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Before running:</a:t>
            </a:r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• Circle with play icon (▶) - Cell is ready</a:t>
            </a:r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endParaRPr dirty="0"/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While running:</a:t>
            </a:r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• Spinning circle - Code is executing</a:t>
            </a:r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endParaRPr dirty="0"/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After running:</a:t>
            </a:r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• Checkmark (✓) - Output appears below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146040"/>
            <a:ext cx="73152" cy="3601617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367004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280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374151"/>
                </a:solidFill>
              </a:rPr>
              <a:t>Cell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6094" y="2032829"/>
            <a:ext cx="1280160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Notice the [1] or [2] next to cells?</a:t>
            </a:r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endParaRPr dirty="0"/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• Shows the order cells were run</a:t>
            </a:r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• Empty [ ] means not yet run</a:t>
            </a:r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• [*] means currently running</a:t>
            </a:r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endParaRPr dirty="0"/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Important: </a:t>
            </a:r>
            <a:r>
              <a:rPr lang="en-US" dirty="0">
                <a:solidFill>
                  <a:srgbClr val="374151"/>
                </a:solidFill>
              </a:rPr>
              <a:t>Can run cells in any order but top to bottom avoids confusion.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777240" y="2121158"/>
            <a:ext cx="73152" cy="311020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92833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280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374151"/>
                </a:solidFill>
              </a:rPr>
              <a:t>Adding New Cells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9437" y="2216953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From the toolbar:</a:t>
            </a:r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• Click + Code for a code cell</a:t>
            </a:r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• Click + Text for a text cell</a:t>
            </a:r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endParaRPr dirty="0"/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Using keyboard:</a:t>
            </a:r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• Ctrl + M, B → Add cell below</a:t>
            </a:r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• Ctrl + M, A → Add cell above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345093"/>
            <a:ext cx="73152" cy="1225421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4706FB-4816-5A60-9BB6-7E2033C4F0EE}"/>
              </a:ext>
            </a:extLst>
          </p:cNvPr>
          <p:cNvSpPr/>
          <p:nvPr/>
        </p:nvSpPr>
        <p:spPr>
          <a:xfrm>
            <a:off x="813816" y="4189444"/>
            <a:ext cx="73152" cy="1225421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99053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280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374151"/>
                </a:solidFill>
              </a:rPr>
              <a:t>Deleting and Moving Cells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40069" y="215475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To delete a cell:</a:t>
            </a:r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• Click the trash icon in the cell toolbar</a:t>
            </a:r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• Or: Ctrl + M, D</a:t>
            </a:r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endParaRPr dirty="0"/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To move a cell:</a:t>
            </a:r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• Click the up/down arrows in the cell toolbar</a:t>
            </a:r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• Or drag and drop the cell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" y="2251789"/>
            <a:ext cx="45719" cy="1219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400A27-0971-80AB-3832-0BA2AF792BF4}"/>
              </a:ext>
            </a:extLst>
          </p:cNvPr>
          <p:cNvSpPr/>
          <p:nvPr/>
        </p:nvSpPr>
        <p:spPr>
          <a:xfrm>
            <a:off x="804672" y="4149012"/>
            <a:ext cx="45719" cy="1219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280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374151"/>
                </a:solidFill>
              </a:rPr>
              <a:t>Meet Gemini: Your AI Assistant</a:t>
            </a:r>
          </a:p>
        </p:txBody>
      </p:sp>
      <p:pic>
        <p:nvPicPr>
          <p:cNvPr id="4" name="Picture 3" descr="colab-gemin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828800"/>
            <a:ext cx="10972800" cy="55184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8580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B4B4B4"/>
                </a:solidFill>
                <a:latin typeface="Arial"/>
              </a:defRPr>
            </a:pPr>
            <a:r>
              <a:rPr>
                <a:solidFill>
                  <a:srgbClr val="374151"/>
                </a:solidFill>
              </a:rPr>
              <a:t>Gemini is built into Colab to help you write code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74645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280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374151"/>
                </a:solidFill>
              </a:rPr>
              <a:t>What Gemini Can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098" y="2391125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• Generate code from plain English descriptions</a:t>
            </a:r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• Explain what existing code does</a:t>
            </a:r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• Fix errors in your code</a:t>
            </a:r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• Suggest improvements</a:t>
            </a:r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• Answer Python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537927"/>
            <a:ext cx="73152" cy="209627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Screenshot (1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57200"/>
            <a:ext cx="12801600" cy="85344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Screenshot (15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57200"/>
            <a:ext cx="12801600" cy="85344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Screenshot (16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57200"/>
            <a:ext cx="12801600" cy="85344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280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374151"/>
                </a:solidFill>
              </a:rPr>
              <a:t>Runtime: What Powers Your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3217" y="228600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When you click Connect, </a:t>
            </a:r>
            <a:r>
              <a:rPr dirty="0" err="1">
                <a:solidFill>
                  <a:srgbClr val="374151"/>
                </a:solidFill>
              </a:rPr>
              <a:t>Colab</a:t>
            </a:r>
            <a:r>
              <a:rPr dirty="0">
                <a:solidFill>
                  <a:srgbClr val="374151"/>
                </a:solidFill>
              </a:rPr>
              <a:t> gives you a virtual computer:</a:t>
            </a:r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endParaRPr dirty="0"/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• CPU (standard processing)</a:t>
            </a:r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• RAM (memory)</a:t>
            </a:r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• Disk space</a:t>
            </a:r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endParaRPr dirty="0"/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And optionally: GPU or TPU for machine learning</a:t>
            </a:r>
          </a:p>
        </p:txBody>
      </p:sp>
      <p:sp>
        <p:nvSpPr>
          <p:cNvPr id="5" name="Rectangle 4"/>
          <p:cNvSpPr/>
          <p:nvPr/>
        </p:nvSpPr>
        <p:spPr>
          <a:xfrm flipH="1">
            <a:off x="850390" y="2286000"/>
            <a:ext cx="64009" cy="32066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/>
            </a:br>
            <a:r>
              <a:rPr lang="en-US" dirty="0">
                <a:solidFill>
                  <a:srgbClr val="374151"/>
                </a:solidFill>
              </a:rPr>
              <a:t>\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>
                <a:solidFill>
                  <a:srgbClr val="374151"/>
                </a:solidFill>
              </a:rPr>
              <a:t>\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280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374151"/>
                </a:solidFill>
              </a:rPr>
              <a:t>Restarting the Runtime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6677" y="2223174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If your code isn't working as expected:</a:t>
            </a:r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endParaRPr dirty="0"/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Runtime → Restart runtime</a:t>
            </a:r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endParaRPr dirty="0"/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This clears all variables and starts fresh.</a:t>
            </a:r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endParaRPr dirty="0"/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Note: You'll need to re-run your cells after restarting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F9F656-9705-04F7-60B3-8DD177DD0449}"/>
              </a:ext>
            </a:extLst>
          </p:cNvPr>
          <p:cNvSpPr/>
          <p:nvPr/>
        </p:nvSpPr>
        <p:spPr>
          <a:xfrm>
            <a:off x="1071402" y="2185851"/>
            <a:ext cx="73152" cy="3247053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280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374151"/>
                </a:solidFill>
              </a:rPr>
              <a:t>Session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42660" y="2220686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Free </a:t>
            </a:r>
            <a:r>
              <a:rPr dirty="0" err="1">
                <a:solidFill>
                  <a:srgbClr val="374151"/>
                </a:solidFill>
              </a:rPr>
              <a:t>Colab</a:t>
            </a:r>
            <a:r>
              <a:rPr dirty="0">
                <a:solidFill>
                  <a:srgbClr val="374151"/>
                </a:solidFill>
              </a:rPr>
              <a:t> limitations:</a:t>
            </a:r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endParaRPr dirty="0"/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• Sessions disconnect after ~90 minutes idle</a:t>
            </a:r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• Maximum ~12 hours continuous use</a:t>
            </a:r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• Limited GPU/TPU hours per week</a:t>
            </a:r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endParaRPr dirty="0"/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Tip: Save your work frequently!</a:t>
            </a:r>
          </a:p>
        </p:txBody>
      </p:sp>
      <p:sp>
        <p:nvSpPr>
          <p:cNvPr id="5" name="Rectangle 4"/>
          <p:cNvSpPr/>
          <p:nvPr/>
        </p:nvSpPr>
        <p:spPr>
          <a:xfrm>
            <a:off x="1070656" y="2220686"/>
            <a:ext cx="73152" cy="3247053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280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374151"/>
                </a:solidFill>
              </a:rPr>
              <a:t>Saving Your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2979" y="2198292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Automatic: </a:t>
            </a:r>
            <a:r>
              <a:rPr dirty="0" err="1">
                <a:solidFill>
                  <a:srgbClr val="374151"/>
                </a:solidFill>
              </a:rPr>
              <a:t>Colab</a:t>
            </a:r>
            <a:r>
              <a:rPr dirty="0">
                <a:solidFill>
                  <a:srgbClr val="374151"/>
                </a:solidFill>
              </a:rPr>
              <a:t> saves to Google Drive automatically</a:t>
            </a:r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endParaRPr dirty="0"/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Manual save: Ctrl + S or File → Save</a:t>
            </a:r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endParaRPr dirty="0"/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Download options (File menu):</a:t>
            </a:r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• Download as .</a:t>
            </a:r>
            <a:r>
              <a:rPr dirty="0" err="1">
                <a:solidFill>
                  <a:srgbClr val="374151"/>
                </a:solidFill>
              </a:rPr>
              <a:t>ipynb</a:t>
            </a:r>
            <a:r>
              <a:rPr dirty="0">
                <a:solidFill>
                  <a:srgbClr val="374151"/>
                </a:solidFill>
              </a:rPr>
              <a:t> (</a:t>
            </a:r>
            <a:r>
              <a:rPr dirty="0" err="1">
                <a:solidFill>
                  <a:srgbClr val="374151"/>
                </a:solidFill>
              </a:rPr>
              <a:t>Jupyter</a:t>
            </a:r>
            <a:r>
              <a:rPr dirty="0">
                <a:solidFill>
                  <a:srgbClr val="374151"/>
                </a:solidFill>
              </a:rPr>
              <a:t> notebook)</a:t>
            </a:r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• Download as .</a:t>
            </a:r>
            <a:r>
              <a:rPr dirty="0" err="1">
                <a:solidFill>
                  <a:srgbClr val="374151"/>
                </a:solidFill>
              </a:rPr>
              <a:t>py</a:t>
            </a:r>
            <a:r>
              <a:rPr dirty="0">
                <a:solidFill>
                  <a:srgbClr val="374151"/>
                </a:solidFill>
              </a:rPr>
              <a:t> (Python script)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289110"/>
            <a:ext cx="73152" cy="3054221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280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374151"/>
                </a:solidFill>
              </a:rPr>
              <a:t>Where Are My Notebooks?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2743" y="2294709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Your notebooks are saved in Google Drive:</a:t>
            </a:r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My Drive/</a:t>
            </a:r>
            <a:r>
              <a:rPr dirty="0" err="1">
                <a:solidFill>
                  <a:srgbClr val="374151"/>
                </a:solidFill>
              </a:rPr>
              <a:t>Colab</a:t>
            </a:r>
            <a:r>
              <a:rPr dirty="0">
                <a:solidFill>
                  <a:srgbClr val="374151"/>
                </a:solidFill>
              </a:rPr>
              <a:t> Notebooks/</a:t>
            </a:r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endParaRPr dirty="0"/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You can also:</a:t>
            </a:r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• Save a copy to GitHub</a:t>
            </a:r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• Save a copy in Drive with a new name</a:t>
            </a:r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• Download to your computer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388637"/>
            <a:ext cx="73152" cy="31039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850</Words>
  <Application>Microsoft Office PowerPoint</Application>
  <PresentationFormat>Custom</PresentationFormat>
  <Paragraphs>159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Inter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Kerry Back</cp:lastModifiedBy>
  <cp:revision>16</cp:revision>
  <dcterms:created xsi:type="dcterms:W3CDTF">2013-01-27T09:14:16Z</dcterms:created>
  <dcterms:modified xsi:type="dcterms:W3CDTF">2026-02-01T16:36:59Z</dcterms:modified>
  <cp:category/>
</cp:coreProperties>
</file>